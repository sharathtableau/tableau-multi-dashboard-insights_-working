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C2CB"/>
                </a:solidFill>
                <a:latin typeface="Calibri"/>
              </a:rPr>
              <a:t>Snapshot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5603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Tableau Dashboard Cropper &amp; AI Insights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461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C4DE"/>
                </a:solidFill>
                <a:latin typeface="Calibri"/>
              </a:rPr>
              <a:t>From Dashboard to Decision-Ready Report — in Minutes, Not Hours.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8521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99AA"/>
                </a:solidFill>
                <a:latin typeface="Calibri"/>
              </a:rPr>
              <a:t>Built by Sharath Kumar Kammari  |  Client Demo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3E"/>
                </a:solidFill>
                <a:latin typeface="Calibri"/>
              </a:rPr>
              <a:t>Purpose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8229600" cy="0"/>
          </a:xfrm>
          <a:prstGeom prst="line">
            <a:avLst/>
          </a:prstGeom>
          <a:ln w="19050">
            <a:solidFill>
              <a:srgbClr val="00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Organizations using Tableau spend hours manually exporting dashboards, screenshotting charts, digging up underlying data, and formatting reports for stakeholders — a process that is repetitive, error-prone, and slow.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A8A"/>
                </a:solidFill>
                <a:latin typeface="Calibri"/>
              </a:rPr>
              <a:t>Snapshot Insights was built to eliminate this bottleneck.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9748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Securely connect to any Tableau Online or Tableau Server environment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Visually select and crop only the metrics that matter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Automatically extract the exact underlying backend data for that crop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Generate an AI-powered, insight-rich report — ready for immediate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577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7A8A"/>
                </a:solidFill>
                <a:latin typeface="Calibri"/>
              </a:rPr>
              <a:t>One tool · Zero manual steps · Entire reporting pipeline automated.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3E"/>
                </a:solidFill>
                <a:latin typeface="Calibri"/>
              </a:rPr>
              <a:t>Outcome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8229600" cy="0"/>
          </a:xfrm>
          <a:prstGeom prst="line">
            <a:avLst/>
          </a:prstGeom>
          <a:ln w="19050">
            <a:solidFill>
              <a:srgbClr val="00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By the end of a session with Snapshot Insights, a user will have: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1.  Exported  high-fidelity PDFs of up to 6 Tableau dashboards directly from the server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2.  Cropped  the exact chart segments they need via a drag-and-drop browser interface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3.  Received  the precise raw backend crosstab data powering those visuals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4.  Obtained  a professionally formatted Word / PDF report containing:</a:t>
            </a:r>
          </a:p>
          <a:p>
            <a:pPr lvl="1" algn="l"/>
            <a:r>
              <a:rPr sz="1400">
                <a:solidFill>
                  <a:srgbClr val="1A1A2E"/>
                </a:solidFill>
                <a:latin typeface="Calibri"/>
              </a:rPr>
              <a:t>The cropped dashboard image + metadata (Project, Workbook, Timestamp)</a:t>
            </a:r>
          </a:p>
          <a:p>
            <a:pPr lvl="1" algn="l"/>
            <a:r>
              <a:rPr sz="1400">
                <a:solidFill>
                  <a:srgbClr val="1A1A2E"/>
                </a:solidFill>
                <a:latin typeface="Calibri"/>
              </a:rPr>
              <a:t>AI-generated business insights synthesised from the visual AND raw data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74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Calibri"/>
              </a:rPr>
              <a:t>Result: A document an executive can act on immediately — no manual formatting, data-gathering, or narrative writing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3E"/>
                </a:solidFill>
                <a:latin typeface="Calibri"/>
              </a:rPr>
              <a:t>Business Impact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8229600" cy="0"/>
          </a:xfrm>
          <a:prstGeom prst="line">
            <a:avLst/>
          </a:prstGeom>
          <a:ln w="19050">
            <a:solidFill>
              <a:srgbClr val="00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11480" y="1097280"/>
            <a:ext cx="2468880" cy="347472"/>
          </a:xfrm>
          <a:prstGeom prst="rect">
            <a:avLst/>
          </a:prstGeom>
          <a:solidFill>
            <a:srgbClr val="0D1B3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Impact 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097280"/>
            <a:ext cx="2926080" cy="347472"/>
          </a:xfrm>
          <a:prstGeom prst="rect">
            <a:avLst/>
          </a:prstGeom>
          <a:solidFill>
            <a:srgbClr val="007A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Before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80" y="1097280"/>
            <a:ext cx="2926080" cy="347472"/>
          </a:xfrm>
          <a:prstGeom prst="rect">
            <a:avLst/>
          </a:prstGeom>
          <a:solidFill>
            <a:srgbClr val="007A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After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44752"/>
            <a:ext cx="2468880" cy="475488"/>
          </a:xfrm>
          <a:prstGeom prst="rect">
            <a:avLst/>
          </a:prstGeom>
          <a:solidFill>
            <a:srgbClr val="E8F0F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1A1A2E"/>
                </a:solidFill>
                <a:latin typeface="Calibri"/>
              </a:rPr>
              <a:t>Report Preparation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444752"/>
            <a:ext cx="2926080" cy="475488"/>
          </a:xfrm>
          <a:prstGeom prst="rect">
            <a:avLst/>
          </a:prstGeom>
          <a:solidFill>
            <a:srgbClr val="E8F0F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>2–4 hours per cycle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444752"/>
            <a:ext cx="2926080" cy="475488"/>
          </a:xfrm>
          <a:prstGeom prst="rect">
            <a:avLst/>
          </a:prstGeom>
          <a:solidFill>
            <a:srgbClr val="E8F0F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2E7D32"/>
                </a:solidFill>
                <a:latin typeface="Calibri"/>
              </a:rPr>
              <a:t>5–10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56816"/>
            <a:ext cx="2468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1A1A2E"/>
                </a:solidFill>
                <a:latin typeface="Calibri"/>
              </a:rPr>
              <a:t>Data 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956816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>Manual copy/paste errors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1956816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2E7D32"/>
                </a:solidFill>
                <a:latin typeface="Calibri"/>
              </a:rPr>
              <a:t>Tied to live backend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68880"/>
            <a:ext cx="2468880" cy="475488"/>
          </a:xfrm>
          <a:prstGeom prst="rect">
            <a:avLst/>
          </a:prstGeom>
          <a:solidFill>
            <a:srgbClr val="E8F0F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1A1A2E"/>
                </a:solidFill>
                <a:latin typeface="Calibri"/>
              </a:rPr>
              <a:t>Insights Quality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468880"/>
            <a:ext cx="2926080" cy="475488"/>
          </a:xfrm>
          <a:prstGeom prst="rect">
            <a:avLst/>
          </a:prstGeom>
          <a:solidFill>
            <a:srgbClr val="E8F0F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>Analyst writes narrative by hand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2468880"/>
            <a:ext cx="2926080" cy="475488"/>
          </a:xfrm>
          <a:prstGeom prst="rect">
            <a:avLst/>
          </a:prstGeom>
          <a:solidFill>
            <a:srgbClr val="E8F0F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2E7D32"/>
                </a:solidFill>
                <a:latin typeface="Calibri"/>
              </a:rPr>
              <a:t>AI synthesises visual +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980944"/>
            <a:ext cx="2468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1A1A2E"/>
                </a:solidFill>
                <a:latin typeface="Calibri"/>
              </a:rPr>
              <a:t>Consistency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2980944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>Format varies by person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2980944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2E7D32"/>
                </a:solidFill>
                <a:latin typeface="Calibri"/>
              </a:rPr>
              <a:t>Standardised every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493008"/>
            <a:ext cx="2468880" cy="475488"/>
          </a:xfrm>
          <a:prstGeom prst="rect">
            <a:avLst/>
          </a:prstGeom>
          <a:solidFill>
            <a:srgbClr val="E8F0F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1A1A2E"/>
                </a:solidFill>
                <a:latin typeface="Calibri"/>
              </a:rPr>
              <a:t>Scalability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493008"/>
            <a:ext cx="2926080" cy="475488"/>
          </a:xfrm>
          <a:prstGeom prst="rect">
            <a:avLst/>
          </a:prstGeom>
          <a:solidFill>
            <a:srgbClr val="E8F0F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>Limited by human bandwidth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97880" y="3493008"/>
            <a:ext cx="2926080" cy="475488"/>
          </a:xfrm>
          <a:prstGeom prst="rect">
            <a:avLst/>
          </a:prstGeom>
          <a:solidFill>
            <a:srgbClr val="E8F0F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2E7D32"/>
                </a:solidFill>
                <a:latin typeface="Calibri"/>
              </a:rPr>
              <a:t>6 dashboards simultaneously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005072"/>
            <a:ext cx="2468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1A1A2E"/>
                </a:solidFill>
                <a:latin typeface="Calibri"/>
              </a:rPr>
              <a:t>Tool Dependency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4005072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>Tableau Desktop + Office skills needed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97880" y="4005072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2E7D32"/>
                </a:solidFill>
                <a:latin typeface="Calibri"/>
              </a:rPr>
              <a:t>Browser only, zero install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B3E"/>
                </a:solidFill>
                <a:latin typeface="Calibri"/>
              </a:rPr>
              <a:t>Who Is This Most Useful For?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8229600" cy="0"/>
          </a:xfrm>
          <a:prstGeom prst="line">
            <a:avLst/>
          </a:prstGeom>
          <a:ln w="19050">
            <a:solidFill>
              <a:srgbClr val="00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5156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A8A"/>
                </a:solidFill>
                <a:latin typeface="Calibri"/>
              </a:rPr>
              <a:t>Primary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  <a:latin typeface="Calibri"/>
              </a:rPr>
              <a:t>► Business Analysts</a:t>
            </a:r>
          </a:p>
          <a:p>
            <a:pPr lvl="1" algn="l"/>
            <a:r>
              <a:rPr sz="1200">
                <a:solidFill>
                  <a:srgbClr val="1A1A2E"/>
                </a:solidFill>
                <a:latin typeface="Calibri"/>
              </a:rPr>
              <a:t>   Eliminates Export → Screenshot → Paste → Format cycles</a:t>
            </a:r>
          </a:p>
          <a:p>
            <a:pPr algn="l"/>
            <a:r>
              <a:rPr sz="1200">
                <a:solidFill>
                  <a:srgbClr val="1A1A2E"/>
                </a:solidFill>
                <a:latin typeface="Calibri"/>
              </a:rPr>
              <a:t>► Data / BI Managers</a:t>
            </a:r>
          </a:p>
          <a:p>
            <a:pPr lvl="1" algn="l"/>
            <a:r>
              <a:rPr sz="1200">
                <a:solidFill>
                  <a:srgbClr val="1A1A2E"/>
                </a:solidFill>
                <a:latin typeface="Calibri"/>
              </a:rPr>
              <a:t>   Centralise report generation without needing Tableau Desktop</a:t>
            </a:r>
          </a:p>
          <a:p>
            <a:pPr algn="l"/>
            <a:r>
              <a:rPr sz="1200">
                <a:solidFill>
                  <a:srgbClr val="1A1A2E"/>
                </a:solidFill>
                <a:latin typeface="Calibri"/>
              </a:rPr>
              <a:t>► Project Managers</a:t>
            </a:r>
          </a:p>
          <a:p>
            <a:pPr lvl="1" algn="l"/>
            <a:r>
              <a:rPr sz="1200">
                <a:solidFill>
                  <a:srgbClr val="1A1A2E"/>
                </a:solidFill>
                <a:latin typeface="Calibri"/>
              </a:rPr>
              <a:t>   Extract KPIs from shared dashboards without a BI team</a:t>
            </a:r>
          </a:p>
          <a:p>
            <a:pPr algn="l"/>
            <a:r>
              <a:rPr sz="1200">
                <a:solidFill>
                  <a:srgbClr val="1A1A2E"/>
                </a:solidFill>
                <a:latin typeface="Calibri"/>
              </a:rPr>
              <a:t>► Executives / Leaders</a:t>
            </a:r>
          </a:p>
          <a:p>
            <a:pPr lvl="1" algn="l"/>
            <a:r>
              <a:rPr sz="1200">
                <a:solidFill>
                  <a:srgbClr val="1A1A2E"/>
                </a:solidFill>
                <a:latin typeface="Calibri"/>
              </a:rPr>
              <a:t>   Receive clean, AI-narrated reports — proactively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05156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A8A"/>
                </a:solidFill>
                <a:latin typeface="Calibri"/>
              </a:rPr>
              <a:t>Best-Fit Industries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41732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  <a:latin typeface="Calibri"/>
              </a:rPr>
              <a:t>Retail &amp; E-Commerce — weekly sales &amp; regional performance reporting</a:t>
            </a:r>
          </a:p>
          <a:p>
            <a:pPr algn="l"/>
            <a:r>
              <a:rPr sz="1200">
                <a:solidFill>
                  <a:srgbClr val="1A1A2E"/>
                </a:solidFill>
                <a:latin typeface="Calibri"/>
              </a:rPr>
              <a:t>SaaS / Technology — product metrics, adoption, revenue tracking</a:t>
            </a:r>
          </a:p>
          <a:p>
            <a:pPr algn="l"/>
            <a:r>
              <a:rPr sz="1200">
                <a:solidFill>
                  <a:srgbClr val="1A1A2E"/>
                </a:solidFill>
                <a:latin typeface="Calibri"/>
              </a:rPr>
              <a:t>Finance &amp; Consulting — client-ready reports from internal BI platforms</a:t>
            </a:r>
          </a:p>
          <a:p>
            <a:pPr algn="l"/>
            <a:r>
              <a:rPr sz="1200">
                <a:solidFill>
                  <a:srgbClr val="1A1A2E"/>
                </a:solidFill>
                <a:latin typeface="Calibri"/>
              </a:rPr>
              <a:t>Healthcare / Operations — standardising periodic performance reviews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321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Any team using Tableau Online / Server that prepares regular stakeholder reports and wants to reduce manual effort while adding AI-powered narrative.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5440680"/>
            <a:ext cx="8321040" cy="7315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B3E"/>
                </a:solidFill>
                <a:latin typeface="Calibri"/>
              </a:rPr>
              <a:t>How It Works — End-to-End Workflow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8229600" cy="0"/>
          </a:xfrm>
          <a:prstGeom prst="line">
            <a:avLst/>
          </a:prstGeom>
          <a:ln w="19050">
            <a:solidFill>
              <a:srgbClr val="00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411480" y="1097280"/>
            <a:ext cx="384048" cy="384048"/>
          </a:xfrm>
          <a:prstGeom prst="ellipse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60704"/>
            <a:ext cx="7863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Secure Authentication  —  Users log in via Tableau Server / Cloud credentials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719072"/>
            <a:ext cx="384048" cy="384048"/>
          </a:xfrm>
          <a:prstGeom prst="ellipse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82495"/>
            <a:ext cx="7863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Dashboard Selection  —  Browse Project → Workbook → Dashboard using the Tableau REST API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2340864"/>
            <a:ext cx="384048" cy="384048"/>
          </a:xfrm>
          <a:prstGeom prst="ellipse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04288"/>
            <a:ext cx="7863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PDF → PNG Conversion  —  High-fidelity PDF exported and rendered as an interactive image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2962656"/>
            <a:ext cx="384048" cy="384048"/>
          </a:xfrm>
          <a:prstGeom prst="ellipse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7863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Interactive Crop  —  Drag-and-drop bounding box to isolate the exact chart segment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584448"/>
            <a:ext cx="384048" cy="384048"/>
          </a:xfrm>
          <a:prstGeom prst="ellipse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47872"/>
            <a:ext cx="7863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Headless Data Extraction  —  Selenium downloads the exact Crosstab Excel behind the visual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4206240"/>
            <a:ext cx="384048" cy="384048"/>
          </a:xfrm>
          <a:prstGeom prst="ellipse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9664"/>
            <a:ext cx="7863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AI Visual-Data Bridge  —  Gemini Vision maps the crop to the correct data columns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" y="4828032"/>
            <a:ext cx="384048" cy="384048"/>
          </a:xfrm>
          <a:prstGeom prst="ellipse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91456"/>
            <a:ext cx="7863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Report Generation  —  Word / PDF assembled with image, metadata &amp; AI insight block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3E"/>
                </a:solidFill>
                <a:latin typeface="Calibri"/>
              </a:rPr>
              <a:t>Technology Stack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8229600" cy="0"/>
          </a:xfrm>
          <a:prstGeom prst="line">
            <a:avLst/>
          </a:prstGeom>
          <a:ln w="19050">
            <a:solidFill>
              <a:srgbClr val="00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11480" y="1097280"/>
            <a:ext cx="2606040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Web Framework &amp; Hosting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078992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Flask · Gunicorn · Render.com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847088"/>
            <a:ext cx="2606040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Integration &amp; 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828800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Tableau REST API · Selenium (headless Chrome) · webdriver-manager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596896"/>
            <a:ext cx="2606040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AI &amp; Data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578608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Google Gemini (Vision + Text) · Pandas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346704"/>
            <a:ext cx="2606040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Image &amp; PDF Handling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3328416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Pillow (PIL) · pdf2image (Poppler)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096511"/>
            <a:ext cx="2606040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Document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4078224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python-docx (Word) · fpdf2 (PDF) · python-pptx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846320"/>
            <a:ext cx="2606040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4828032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HTML · CSS · JavaScript · Bootstrap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C2CB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2402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Snapshot Insights — Turning Tableau Dashboards into
Decision-Ready Reports Powered by AI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3246120"/>
            <a:ext cx="4572000" cy="0"/>
          </a:xfrm>
          <a:prstGeom prst="line">
            <a:avLst/>
          </a:prstGeom>
          <a:ln w="19050">
            <a:solidFill>
              <a:srgbClr val="00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34290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DE"/>
                </a:solidFill>
                <a:latin typeface="Calibri"/>
              </a:rPr>
              <a:t>Live Demo:  https://tableaudashboardcropper.onrender.com/login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7607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99AA"/>
                </a:solidFill>
                <a:latin typeface="Calibri"/>
              </a:rPr>
              <a:t>Built by Sharath Kumar Kammari  |  Open for collaborations &amp; custom deployments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