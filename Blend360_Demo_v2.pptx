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34747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 Black"/>
              </a:rPr>
              <a:t>BLEND360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4152" y="137160"/>
            <a:ext cx="39319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  <a:latin typeface="Arial"/>
              </a:rPr>
              <a:t>DATA &amp; ANALYTICS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548640"/>
            <a:ext cx="11494008" cy="2286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 Black"/>
              </a:rPr>
              <a:t>DASHBOARD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3200400" cy="36576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8229600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00C4CC"/>
                </a:solidFill>
                <a:latin typeface="Calibri"/>
              </a:rPr>
              <a:t>Automated Tableau Analytics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44368"/>
            <a:ext cx="822960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50" b="0" i="1">
                <a:solidFill>
                  <a:srgbClr val="B0BECE"/>
                </a:solidFill>
                <a:latin typeface="Calibri"/>
              </a:rPr>
              <a:t>From snapshot to insight — powered by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663440"/>
            <a:ext cx="3108960" cy="1005840"/>
          </a:xfrm>
          <a:prstGeom prst="rect">
            <a:avLst/>
          </a:prstGeom>
          <a:solidFill>
            <a:srgbClr val="0D1528"/>
          </a:solidFill>
          <a:ln w="1524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3108960" cy="43891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73168"/>
            <a:ext cx="283464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000" b="1" i="0">
                <a:solidFill>
                  <a:srgbClr val="00C4CC"/>
                </a:solidFill>
                <a:latin typeface="Arial Blac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21807"/>
            <a:ext cx="283464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50" b="0" i="0">
                <a:solidFill>
                  <a:srgbClr val="B0BECE"/>
                </a:solidFill>
                <a:latin typeface="Arial"/>
              </a:rPr>
              <a:t>DASHBOARDS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76472" y="4663440"/>
            <a:ext cx="3108960" cy="1005840"/>
          </a:xfrm>
          <a:prstGeom prst="rect">
            <a:avLst/>
          </a:prstGeom>
          <a:solidFill>
            <a:srgbClr val="0D1528"/>
          </a:solidFill>
          <a:ln w="1524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76472" y="4663440"/>
            <a:ext cx="3108960" cy="43891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4773168"/>
            <a:ext cx="283464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1" i="0">
                <a:solidFill>
                  <a:srgbClr val="00C4CC"/>
                </a:solidFill>
                <a:latin typeface="Arial Black"/>
              </a:rPr>
              <a:t>✓ INCLUDED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5321807"/>
            <a:ext cx="283464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50" b="0" i="0">
                <a:solidFill>
                  <a:srgbClr val="B0BECE"/>
                </a:solidFill>
                <a:latin typeface="Arial"/>
              </a:rPr>
              <a:t>AI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50024" y="4663440"/>
            <a:ext cx="3108960" cy="1005840"/>
          </a:xfrm>
          <a:prstGeom prst="rect">
            <a:avLst/>
          </a:prstGeom>
          <a:solidFill>
            <a:srgbClr val="0D1528"/>
          </a:solidFill>
          <a:ln w="15240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50024" y="4663440"/>
            <a:ext cx="3108960" cy="43891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4" y="4773168"/>
            <a:ext cx="283464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00C4CC"/>
                </a:solidFill>
                <a:latin typeface="Arial Black"/>
              </a:rPr>
              <a:t>Apr 19,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4" y="5321807"/>
            <a:ext cx="283464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50" b="0" i="0">
                <a:solidFill>
                  <a:srgbClr val="B0BECE"/>
                </a:solidFill>
                <a:latin typeface="Arial"/>
              </a:rPr>
              <a:t>GENERATED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914400"/>
            <a:ext cx="3154680" cy="5303520"/>
          </a:xfrm>
          <a:prstGeom prst="rect">
            <a:avLst/>
          </a:prstGeom>
          <a:solidFill>
            <a:srgbClr val="0D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914400"/>
            <a:ext cx="43891" cy="530352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1078992"/>
            <a:ext cx="2834640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  <a:latin typeface="Arial"/>
              </a:rPr>
              <a:t>WHAT'S INSIDE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87968" y="1463040"/>
            <a:ext cx="2560320" cy="20116"/>
          </a:xfrm>
          <a:prstGeom prst="rect">
            <a:avLst/>
          </a:prstGeom>
          <a:solidFill>
            <a:srgbClr val="00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1572768"/>
            <a:ext cx="2834640" cy="457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B0BECE"/>
                </a:solidFill>
                <a:latin typeface="Calibri"/>
              </a:rPr>
              <a:t>Each slide in this report includes:
‣  Cropped dashboard view
‣  Applied filter context
‣  Data source &amp; refresh date
‣  AI-generated deep analysis:
     KPIs, anomalies, trends,
     risks &amp; recommendations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0116"/>
          </a:xfrm>
          <a:prstGeom prst="rect">
            <a:avLst/>
          </a:prstGeom>
          <a:solidFill>
            <a:srgbClr val="00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6620256"/>
            <a:ext cx="731520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750" b="0" i="0">
                <a:solidFill>
                  <a:srgbClr val="B0BECE"/>
                </a:solidFill>
                <a:latin typeface="Calibri"/>
              </a:rPr>
              <a:t>Confidential  |  Blend360  |  Data &amp; Analytics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34747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 Black"/>
              </a:rPr>
              <a:t>BLEND360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4152" y="137160"/>
            <a:ext cx="39319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  <a:latin typeface="Arial"/>
              </a:rPr>
              <a:t>DATA &amp; ANALYTICS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548640"/>
            <a:ext cx="11494008" cy="2286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91440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750" b="0" i="0">
                <a:solidFill>
                  <a:srgbClr val="00C4CC"/>
                </a:solidFill>
                <a:latin typeface="Arial"/>
              </a:rPr>
              <a:t>RETAIL  |  DATA &amp; ANALYTICS  —  SALES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1051560"/>
            <a:ext cx="3977639" cy="5303520"/>
          </a:xfrm>
          <a:prstGeom prst="rect">
            <a:avLst/>
          </a:prstGeom>
          <a:solidFill>
            <a:srgbClr val="0D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0" y="1051560"/>
            <a:ext cx="3977639" cy="4114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1216151"/>
            <a:ext cx="3648456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  <a:latin typeface="Arial Black"/>
              </a:rPr>
              <a:t>AI INSIGHTS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152" y="1536191"/>
            <a:ext cx="3648456" cy="16459"/>
          </a:xfrm>
          <a:prstGeom prst="rect">
            <a:avLst/>
          </a:prstGeom>
          <a:solidFill>
            <a:srgbClr val="00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4152" y="1627631"/>
            <a:ext cx="3648456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00" b="0" i="0">
                <a:solidFill>
                  <a:srgbClr val="B0BECE"/>
                </a:solidFill>
                <a:latin typeface="Calibri"/>
              </a:rPr>
              <a:t>Filters: Region: East, Quarter: Q1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1856231"/>
            <a:ext cx="3648456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00" b="0" i="0">
                <a:solidFill>
                  <a:srgbClr val="B0BECE"/>
                </a:solidFill>
                <a:latin typeface="Calibri"/>
              </a:rPr>
              <a:t>Source: Extract — As of Apr 18, 2026 02:30 PM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2112263"/>
            <a:ext cx="3648456" cy="16459"/>
          </a:xfrm>
          <a:prstGeom prst="rect">
            <a:avLst/>
          </a:prstGeom>
          <a:solidFill>
            <a:srgbClr val="00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2221991"/>
            <a:ext cx="3648456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AI insights generation failed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6" y="2596896"/>
            <a:ext cx="3721607" cy="2057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50" b="0" i="0">
                <a:solidFill>
                  <a:srgbClr val="B0BECE"/>
                </a:solidFill>
                <a:latin typeface="Calibri"/>
              </a:rPr>
              <a:t>Error: name 'PILImage' is not defined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6" y="2839212"/>
            <a:ext cx="3721607" cy="9144"/>
          </a:xfrm>
          <a:prstGeom prst="rect">
            <a:avLst/>
          </a:prstGeom>
          <a:solidFill>
            <a:srgbClr val="00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7576" y="2875788"/>
            <a:ext cx="3721607" cy="2057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50" b="0" i="0">
                <a:solidFill>
                  <a:srgbClr val="B0BECE"/>
                </a:solidFill>
                <a:latin typeface="Calibri"/>
              </a:rPr>
              <a:t>Please check your Gemini API key and quota.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0116"/>
          </a:xfrm>
          <a:prstGeom prst="rect">
            <a:avLst/>
          </a:prstGeom>
          <a:solidFill>
            <a:srgbClr val="00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6620256"/>
            <a:ext cx="731520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750" b="0" i="0">
                <a:solidFill>
                  <a:srgbClr val="B0BECE"/>
                </a:solidFill>
                <a:latin typeface="Calibri"/>
              </a:rPr>
              <a:t>Confidential  |  Blend360  |  Data &amp; Analytics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34747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 Black"/>
              </a:rPr>
              <a:t>BLEND360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4152" y="137160"/>
            <a:ext cx="39319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  <a:latin typeface="Arial"/>
              </a:rPr>
              <a:t>DATA &amp; ANALYTICS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548640"/>
            <a:ext cx="11494008" cy="2286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91440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750" b="0" i="0">
                <a:solidFill>
                  <a:srgbClr val="00C4CC"/>
                </a:solidFill>
                <a:latin typeface="Arial"/>
              </a:rPr>
              <a:t>RETAIL  |  DATA &amp; ANALYTICS  —  CUSTOMER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1051560"/>
            <a:ext cx="3977639" cy="5303520"/>
          </a:xfrm>
          <a:prstGeom prst="rect">
            <a:avLst/>
          </a:prstGeom>
          <a:solidFill>
            <a:srgbClr val="0D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0" y="1051560"/>
            <a:ext cx="3977639" cy="4114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1216151"/>
            <a:ext cx="3648456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  <a:latin typeface="Arial Black"/>
              </a:rPr>
              <a:t>AI INSIGHTS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152" y="1536191"/>
            <a:ext cx="3648456" cy="16459"/>
          </a:xfrm>
          <a:prstGeom prst="rect">
            <a:avLst/>
          </a:prstGeom>
          <a:solidFill>
            <a:srgbClr val="00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4152" y="1627631"/>
            <a:ext cx="3648456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00" b="0" i="0">
                <a:solidFill>
                  <a:srgbClr val="B0BECE"/>
                </a:solidFill>
                <a:latin typeface="Calibri"/>
              </a:rPr>
              <a:t>Filters: Segment: 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1856231"/>
            <a:ext cx="3648456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00" b="0" i="0">
                <a:solidFill>
                  <a:srgbClr val="B0BECE"/>
                </a:solidFill>
                <a:latin typeface="Calibri"/>
              </a:rPr>
              <a:t>Source: Updated: Apr 19, 2026 11:30 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2112263"/>
            <a:ext cx="3648456" cy="16459"/>
          </a:xfrm>
          <a:prstGeom prst="rect">
            <a:avLst/>
          </a:prstGeom>
          <a:solidFill>
            <a:srgbClr val="00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2221991"/>
            <a:ext cx="3648456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AI insights generation failed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6" y="2596896"/>
            <a:ext cx="3721607" cy="2057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50" b="0" i="0">
                <a:solidFill>
                  <a:srgbClr val="B0BECE"/>
                </a:solidFill>
                <a:latin typeface="Calibri"/>
              </a:rPr>
              <a:t>Error: name 'PILImage' is not defined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6" y="2839212"/>
            <a:ext cx="3721607" cy="9144"/>
          </a:xfrm>
          <a:prstGeom prst="rect">
            <a:avLst/>
          </a:prstGeom>
          <a:solidFill>
            <a:srgbClr val="00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7576" y="2875788"/>
            <a:ext cx="3721607" cy="2057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50" b="0" i="0">
                <a:solidFill>
                  <a:srgbClr val="B0BECE"/>
                </a:solidFill>
                <a:latin typeface="Calibri"/>
              </a:rPr>
              <a:t>Please check your Gemini API key and quota.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0116"/>
          </a:xfrm>
          <a:prstGeom prst="rect">
            <a:avLst/>
          </a:prstGeom>
          <a:solidFill>
            <a:srgbClr val="00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6620256"/>
            <a:ext cx="731520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750" b="0" i="0">
                <a:solidFill>
                  <a:srgbClr val="B0BECE"/>
                </a:solidFill>
                <a:latin typeface="Calibri"/>
              </a:rPr>
              <a:t>Confidential  |  Blend360  |  Data &amp; Analytics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